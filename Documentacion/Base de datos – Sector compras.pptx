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1E3A8A"/>
                </a:solidFill>
                <a:latin typeface="Calibri"/>
              </a:rPr>
              <a:t>Sistema de Base
de Datos para</a:t>
            </a:r>
          </a:p>
          <a:p>
            <a:r>
              <a:rPr sz="4400" b="1" dirty="0" err="1">
                <a:solidFill>
                  <a:srgbClr val="F97316"/>
                </a:solidFill>
                <a:latin typeface="Calibri"/>
              </a:rPr>
              <a:t>Gestión</a:t>
            </a:r>
            <a:r>
              <a:rPr sz="4400" b="1" dirty="0">
                <a:solidFill>
                  <a:srgbClr val="F97316"/>
                </a:solidFill>
                <a:latin typeface="Calibri"/>
              </a:rPr>
              <a:t> de </a:t>
            </a:r>
            <a:r>
              <a:rPr sz="4400" b="1" dirty="0" err="1">
                <a:solidFill>
                  <a:srgbClr val="F97316"/>
                </a:solidFill>
                <a:latin typeface="Calibri"/>
              </a:rPr>
              <a:t>Compras</a:t>
            </a:r>
            <a:endParaRPr sz="4400" b="1" dirty="0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4480560"/>
            <a:ext cx="441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4B5563"/>
                </a:solidFill>
                <a:latin typeface="Calibri"/>
              </a:rPr>
              <a:t>Diseño</a:t>
            </a:r>
            <a:r>
              <a:rPr sz="1800" b="1" dirty="0">
                <a:solidFill>
                  <a:srgbClr val="4B5563"/>
                </a:solidFill>
                <a:latin typeface="Calibri"/>
              </a:rPr>
              <a:t>, </a:t>
            </a:r>
            <a:r>
              <a:rPr sz="1800" b="1" dirty="0" err="1">
                <a:solidFill>
                  <a:srgbClr val="4B5563"/>
                </a:solidFill>
                <a:latin typeface="Calibri"/>
              </a:rPr>
              <a:t>implementación</a:t>
            </a:r>
            <a:r>
              <a:rPr sz="1800" b="1" dirty="0">
                <a:solidFill>
                  <a:srgbClr val="4B5563"/>
                </a:solidFill>
                <a:latin typeface="Calibri"/>
              </a:rPr>
              <a:t> y </a:t>
            </a:r>
            <a:r>
              <a:rPr sz="1800" b="1" dirty="0" err="1">
                <a:solidFill>
                  <a:srgbClr val="4B5563"/>
                </a:solidFill>
                <a:latin typeface="Calibri"/>
              </a:rPr>
              <a:t>justificación</a:t>
            </a:r>
            <a:r>
              <a:rPr sz="1800" b="1" dirty="0">
                <a:solidFill>
                  <a:srgbClr val="4B5563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4B5563"/>
                </a:solidFill>
                <a:latin typeface="Calibri"/>
              </a:rPr>
              <a:t>técnica</a:t>
            </a:r>
            <a:r>
              <a:rPr sz="1800" b="1" dirty="0">
                <a:solidFill>
                  <a:srgbClr val="4B5563"/>
                </a:solidFill>
                <a:latin typeface="Calibri"/>
              </a:rPr>
              <a:t> para la </a:t>
            </a:r>
            <a:r>
              <a:rPr sz="1800" b="1" dirty="0" err="1">
                <a:solidFill>
                  <a:srgbClr val="4B5563"/>
                </a:solidFill>
                <a:latin typeface="Calibri"/>
              </a:rPr>
              <a:t>optimización</a:t>
            </a:r>
            <a:r>
              <a:rPr sz="1800" b="1" dirty="0">
                <a:solidFill>
                  <a:srgbClr val="4B5563"/>
                </a:solidFill>
                <a:latin typeface="Calibri"/>
              </a:rPr>
              <a:t> del sector de </a:t>
            </a:r>
            <a:r>
              <a:rPr sz="1800" b="1" dirty="0" err="1">
                <a:solidFill>
                  <a:srgbClr val="4B5563"/>
                </a:solidFill>
                <a:latin typeface="Calibri"/>
              </a:rPr>
              <a:t>abastecimiento</a:t>
            </a:r>
            <a:r>
              <a:rPr sz="1800" b="1" dirty="0">
                <a:solidFill>
                  <a:srgbClr val="4B5563"/>
                </a:solidFill>
                <a:latin typeface="Calibri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0"/>
            <a:ext cx="46634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97316"/>
                </a:solidFill>
              </a:rPr>
              <a:t>INTRODUCCIÓN</a:t>
            </a:r>
          </a:p>
          <a:p>
            <a:r>
              <a:rPr sz="3200" b="1">
                <a:solidFill>
                  <a:srgbClr val="1E3A8A"/>
                </a:solidFill>
              </a:rPr>
              <a:t>El Corazón Financiero de la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4B5563"/>
                </a:solidFill>
              </a:rPr>
              <a:t>El </a:t>
            </a:r>
            <a:r>
              <a:rPr sz="1700" dirty="0" err="1">
                <a:solidFill>
                  <a:srgbClr val="4B5563"/>
                </a:solidFill>
              </a:rPr>
              <a:t>área</a:t>
            </a:r>
            <a:r>
              <a:rPr sz="1700" dirty="0">
                <a:solidFill>
                  <a:srgbClr val="4B5563"/>
                </a:solidFill>
              </a:rPr>
              <a:t> de </a:t>
            </a:r>
            <a:r>
              <a:rPr sz="1700" dirty="0" err="1">
                <a:solidFill>
                  <a:srgbClr val="4B5563"/>
                </a:solidFill>
              </a:rPr>
              <a:t>Compras</a:t>
            </a:r>
            <a:r>
              <a:rPr sz="1700" dirty="0">
                <a:solidFill>
                  <a:srgbClr val="4B5563"/>
                </a:solidFill>
              </a:rPr>
              <a:t> es un pilar fundamental para la </a:t>
            </a:r>
            <a:r>
              <a:rPr sz="1700" dirty="0" err="1">
                <a:solidFill>
                  <a:srgbClr val="4B5563"/>
                </a:solidFill>
              </a:rPr>
              <a:t>rentabilidad</a:t>
            </a:r>
            <a:r>
              <a:rPr sz="1700" dirty="0">
                <a:solidFill>
                  <a:srgbClr val="4B5563"/>
                </a:solidFill>
              </a:rPr>
              <a:t> de </a:t>
            </a:r>
            <a:r>
              <a:rPr sz="1700" dirty="0" err="1">
                <a:solidFill>
                  <a:srgbClr val="4B5563"/>
                </a:solidFill>
              </a:rPr>
              <a:t>cualquier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organización</a:t>
            </a:r>
            <a:r>
              <a:rPr sz="1700" dirty="0">
                <a:solidFill>
                  <a:srgbClr val="4B5563"/>
                </a:solidFill>
              </a:rPr>
              <a:t>. Su </a:t>
            </a:r>
            <a:r>
              <a:rPr sz="1700" dirty="0" err="1">
                <a:solidFill>
                  <a:srgbClr val="4B5563"/>
                </a:solidFill>
              </a:rPr>
              <a:t>misión</a:t>
            </a:r>
            <a:r>
              <a:rPr sz="1700" dirty="0">
                <a:solidFill>
                  <a:srgbClr val="4B5563"/>
                </a:solidFill>
              </a:rPr>
              <a:t> no es solo </a:t>
            </a:r>
            <a:r>
              <a:rPr sz="1700" dirty="0" err="1">
                <a:solidFill>
                  <a:srgbClr val="4B5563"/>
                </a:solidFill>
              </a:rPr>
              <a:t>adquirir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bienes</a:t>
            </a:r>
            <a:r>
              <a:rPr sz="1700" dirty="0">
                <a:solidFill>
                  <a:srgbClr val="4B5563"/>
                </a:solidFill>
              </a:rPr>
              <a:t> y </a:t>
            </a:r>
            <a:r>
              <a:rPr sz="1700" dirty="0" err="1">
                <a:solidFill>
                  <a:srgbClr val="4B5563"/>
                </a:solidFill>
              </a:rPr>
              <a:t>servicios</a:t>
            </a:r>
            <a:r>
              <a:rPr sz="1700" dirty="0">
                <a:solidFill>
                  <a:srgbClr val="4B5563"/>
                </a:solidFill>
              </a:rPr>
              <a:t>, </a:t>
            </a:r>
            <a:r>
              <a:rPr sz="1700" dirty="0" err="1">
                <a:solidFill>
                  <a:srgbClr val="4B5563"/>
                </a:solidFill>
              </a:rPr>
              <a:t>sino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optimizar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recursos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mediante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una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gestión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inteligente</a:t>
            </a:r>
            <a:r>
              <a:rPr sz="1700" dirty="0">
                <a:solidFill>
                  <a:srgbClr val="4B5563"/>
                </a:solidFill>
              </a:rPr>
              <a:t> y </a:t>
            </a:r>
            <a:r>
              <a:rPr sz="1700" dirty="0" err="1">
                <a:solidFill>
                  <a:srgbClr val="4B5563"/>
                </a:solidFill>
              </a:rPr>
              <a:t>construir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relaciones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estratégicas</a:t>
            </a:r>
            <a:r>
              <a:rPr sz="1700" dirty="0">
                <a:solidFill>
                  <a:srgbClr val="4B5563"/>
                </a:solidFill>
              </a:rPr>
              <a:t> con </a:t>
            </a:r>
            <a:r>
              <a:rPr sz="1700" dirty="0" err="1">
                <a:solidFill>
                  <a:srgbClr val="4B5563"/>
                </a:solidFill>
              </a:rPr>
              <a:t>proveedores</a:t>
            </a:r>
            <a:r>
              <a:rPr sz="1700" dirty="0">
                <a:solidFill>
                  <a:srgbClr val="4B5563"/>
                </a:solidFill>
              </a:rPr>
              <a:t>.
Para </a:t>
            </a:r>
            <a:r>
              <a:rPr sz="1700" dirty="0" err="1">
                <a:solidFill>
                  <a:srgbClr val="4B5563"/>
                </a:solidFill>
              </a:rPr>
              <a:t>que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estos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objetivos</a:t>
            </a:r>
            <a:r>
              <a:rPr sz="1700" dirty="0">
                <a:solidFill>
                  <a:srgbClr val="4B5563"/>
                </a:solidFill>
              </a:rPr>
              <a:t> se </a:t>
            </a:r>
            <a:r>
              <a:rPr sz="1700" dirty="0" err="1">
                <a:solidFill>
                  <a:srgbClr val="4B5563"/>
                </a:solidFill>
              </a:rPr>
              <a:t>cumplan</a:t>
            </a:r>
            <a:r>
              <a:rPr sz="1700" dirty="0">
                <a:solidFill>
                  <a:srgbClr val="4B5563"/>
                </a:solidFill>
              </a:rPr>
              <a:t>, es vital </a:t>
            </a:r>
            <a:r>
              <a:rPr sz="1700" dirty="0" err="1">
                <a:solidFill>
                  <a:srgbClr val="4B5563"/>
                </a:solidFill>
              </a:rPr>
              <a:t>que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el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área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funcione</a:t>
            </a:r>
            <a:r>
              <a:rPr sz="1700" dirty="0">
                <a:solidFill>
                  <a:srgbClr val="4B5563"/>
                </a:solidFill>
              </a:rPr>
              <a:t> de </a:t>
            </a:r>
            <a:r>
              <a:rPr sz="1700" dirty="0" err="1">
                <a:solidFill>
                  <a:srgbClr val="4B5563"/>
                </a:solidFill>
              </a:rPr>
              <a:t>manera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óptima</a:t>
            </a:r>
            <a:r>
              <a:rPr sz="1700" dirty="0">
                <a:solidFill>
                  <a:srgbClr val="4B5563"/>
                </a:solidFill>
              </a:rPr>
              <a:t>: </a:t>
            </a:r>
            <a:r>
              <a:rPr sz="1700" dirty="0" err="1">
                <a:solidFill>
                  <a:srgbClr val="4B5563"/>
                </a:solidFill>
              </a:rPr>
              <a:t>cualquier</a:t>
            </a:r>
            <a:r>
              <a:rPr sz="1700" dirty="0">
                <a:solidFill>
                  <a:srgbClr val="4B5563"/>
                </a:solidFill>
              </a:rPr>
              <a:t> error </a:t>
            </a:r>
            <a:r>
              <a:rPr sz="1700" dirty="0" err="1">
                <a:solidFill>
                  <a:srgbClr val="4B5563"/>
                </a:solidFill>
              </a:rPr>
              <a:t>en</a:t>
            </a:r>
            <a:r>
              <a:rPr sz="1700" dirty="0">
                <a:solidFill>
                  <a:srgbClr val="4B5563"/>
                </a:solidFill>
              </a:rPr>
              <a:t> la </a:t>
            </a:r>
            <a:r>
              <a:rPr sz="1700" dirty="0" err="1">
                <a:solidFill>
                  <a:srgbClr val="4B5563"/>
                </a:solidFill>
              </a:rPr>
              <a:t>información</a:t>
            </a:r>
            <a:r>
              <a:rPr sz="1700" dirty="0">
                <a:solidFill>
                  <a:srgbClr val="4B5563"/>
                </a:solidFill>
              </a:rPr>
              <a:t>, </a:t>
            </a:r>
            <a:r>
              <a:rPr sz="1700" dirty="0" err="1">
                <a:solidFill>
                  <a:srgbClr val="4B5563"/>
                </a:solidFill>
              </a:rPr>
              <a:t>duplicación</a:t>
            </a:r>
            <a:r>
              <a:rPr sz="1700" dirty="0">
                <a:solidFill>
                  <a:srgbClr val="4B5563"/>
                </a:solidFill>
              </a:rPr>
              <a:t> de </a:t>
            </a:r>
            <a:r>
              <a:rPr sz="1700" dirty="0" err="1">
                <a:solidFill>
                  <a:srgbClr val="4B5563"/>
                </a:solidFill>
              </a:rPr>
              <a:t>datos</a:t>
            </a:r>
            <a:r>
              <a:rPr sz="1700" dirty="0">
                <a:solidFill>
                  <a:srgbClr val="4B5563"/>
                </a:solidFill>
              </a:rPr>
              <a:t> o </a:t>
            </a:r>
            <a:r>
              <a:rPr sz="1700" dirty="0" err="1">
                <a:solidFill>
                  <a:srgbClr val="4B5563"/>
                </a:solidFill>
              </a:rPr>
              <a:t>falta</a:t>
            </a:r>
            <a:r>
              <a:rPr sz="1700" dirty="0">
                <a:solidFill>
                  <a:srgbClr val="4B5563"/>
                </a:solidFill>
              </a:rPr>
              <a:t> de control se traduce </a:t>
            </a:r>
            <a:r>
              <a:rPr sz="1700" dirty="0" err="1">
                <a:solidFill>
                  <a:srgbClr val="4B5563"/>
                </a:solidFill>
              </a:rPr>
              <a:t>directamente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en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pérdidas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económicas</a:t>
            </a:r>
            <a:r>
              <a:rPr sz="1700" dirty="0">
                <a:solidFill>
                  <a:srgbClr val="4B5563"/>
                </a:solidFill>
              </a:rPr>
              <a:t>.
Este </a:t>
            </a:r>
            <a:r>
              <a:rPr sz="1700" dirty="0" err="1">
                <a:solidFill>
                  <a:srgbClr val="4B5563"/>
                </a:solidFill>
              </a:rPr>
              <a:t>proyecto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nace</a:t>
            </a:r>
            <a:r>
              <a:rPr sz="1700" dirty="0">
                <a:solidFill>
                  <a:srgbClr val="4B5563"/>
                </a:solidFill>
              </a:rPr>
              <a:t> para </a:t>
            </a:r>
            <a:r>
              <a:rPr sz="1700" dirty="0" err="1">
                <a:solidFill>
                  <a:srgbClr val="4B5563"/>
                </a:solidFill>
              </a:rPr>
              <a:t>brindar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esa</a:t>
            </a:r>
            <a:r>
              <a:rPr sz="1700" dirty="0">
                <a:solidFill>
                  <a:srgbClr val="4B5563"/>
                </a:solidFill>
              </a:rPr>
              <a:t> </a:t>
            </a:r>
            <a:r>
              <a:rPr sz="1700" dirty="0" err="1">
                <a:solidFill>
                  <a:srgbClr val="4B5563"/>
                </a:solidFill>
              </a:rPr>
              <a:t>seguridad</a:t>
            </a:r>
            <a:r>
              <a:rPr sz="1700" dirty="0">
                <a:solidFill>
                  <a:srgbClr val="4B5563"/>
                </a:solidFill>
              </a:rPr>
              <a:t>, </a:t>
            </a:r>
            <a:r>
              <a:rPr sz="1700" dirty="0" err="1">
                <a:solidFill>
                  <a:srgbClr val="4B5563"/>
                </a:solidFill>
              </a:rPr>
              <a:t>mediante</a:t>
            </a:r>
            <a:r>
              <a:rPr sz="1700" dirty="0">
                <a:solidFill>
                  <a:srgbClr val="4B5563"/>
                </a:solidFill>
              </a:rPr>
              <a:t> la </a:t>
            </a:r>
            <a:r>
              <a:rPr sz="1700" dirty="0" err="1">
                <a:solidFill>
                  <a:srgbClr val="4B5563"/>
                </a:solidFill>
              </a:rPr>
              <a:t>implementación</a:t>
            </a:r>
            <a:r>
              <a:rPr sz="1700" dirty="0">
                <a:solidFill>
                  <a:srgbClr val="4B5563"/>
                </a:solidFill>
              </a:rPr>
              <a:t> de </a:t>
            </a:r>
            <a:r>
              <a:rPr sz="1700" dirty="0" err="1">
                <a:solidFill>
                  <a:srgbClr val="4B5563"/>
                </a:solidFill>
              </a:rPr>
              <a:t>una</a:t>
            </a:r>
            <a:r>
              <a:rPr sz="1700" dirty="0">
                <a:solidFill>
                  <a:srgbClr val="4B5563"/>
                </a:solidFill>
              </a:rPr>
              <a:t> base de </a:t>
            </a:r>
            <a:r>
              <a:rPr sz="1700" dirty="0" err="1">
                <a:solidFill>
                  <a:srgbClr val="4B5563"/>
                </a:solidFill>
              </a:rPr>
              <a:t>datos</a:t>
            </a:r>
            <a:r>
              <a:rPr sz="1700" dirty="0">
                <a:solidFill>
                  <a:srgbClr val="4B5563"/>
                </a:solidFill>
              </a:rPr>
              <a:t> robusta, </a:t>
            </a:r>
            <a:r>
              <a:rPr sz="1700" dirty="0" err="1">
                <a:solidFill>
                  <a:srgbClr val="4B5563"/>
                </a:solidFill>
              </a:rPr>
              <a:t>estructurada</a:t>
            </a:r>
            <a:r>
              <a:rPr sz="1700" dirty="0">
                <a:solidFill>
                  <a:srgbClr val="4B5563"/>
                </a:solidFill>
              </a:rPr>
              <a:t> y </a:t>
            </a:r>
            <a:r>
              <a:rPr sz="1700" dirty="0" err="1">
                <a:solidFill>
                  <a:srgbClr val="4B5563"/>
                </a:solidFill>
              </a:rPr>
              <a:t>alineada</a:t>
            </a:r>
            <a:r>
              <a:rPr sz="1700" dirty="0">
                <a:solidFill>
                  <a:srgbClr val="4B5563"/>
                </a:solidFill>
              </a:rPr>
              <a:t> al </a:t>
            </a:r>
            <a:r>
              <a:rPr sz="1700" dirty="0" err="1">
                <a:solidFill>
                  <a:srgbClr val="4B5563"/>
                </a:solidFill>
              </a:rPr>
              <a:t>proceso</a:t>
            </a:r>
            <a:r>
              <a:rPr sz="1700" dirty="0">
                <a:solidFill>
                  <a:srgbClr val="4B5563"/>
                </a:solidFill>
              </a:rPr>
              <a:t> real de </a:t>
            </a:r>
            <a:r>
              <a:rPr sz="1700" dirty="0" err="1">
                <a:solidFill>
                  <a:srgbClr val="4B5563"/>
                </a:solidFill>
              </a:rPr>
              <a:t>compras</a:t>
            </a:r>
            <a:r>
              <a:rPr sz="1700" dirty="0">
                <a:solidFill>
                  <a:srgbClr val="4B556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1214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97316"/>
                </a:solidFill>
              </a:rPr>
              <a:t>CONTEXTO</a:t>
            </a:r>
          </a:p>
          <a:p>
            <a:r>
              <a:rPr sz="3200" b="1" dirty="0" err="1">
                <a:solidFill>
                  <a:srgbClr val="1E3A8A"/>
                </a:solidFill>
              </a:rPr>
              <a:t>Situación</a:t>
            </a:r>
            <a:r>
              <a:rPr sz="3200" b="1" dirty="0">
                <a:solidFill>
                  <a:srgbClr val="1E3A8A"/>
                </a:solidFill>
              </a:rPr>
              <a:t> </a:t>
            </a:r>
            <a:r>
              <a:rPr sz="3200" b="1" dirty="0" err="1">
                <a:solidFill>
                  <a:srgbClr val="1E3A8A"/>
                </a:solidFill>
              </a:rPr>
              <a:t>Inicial</a:t>
            </a:r>
            <a:r>
              <a:rPr sz="3200" b="1" dirty="0">
                <a:solidFill>
                  <a:srgbClr val="1E3A8A"/>
                </a:solidFill>
              </a:rPr>
              <a:t> del </a:t>
            </a:r>
            <a:r>
              <a:rPr sz="3200" b="1" dirty="0" err="1">
                <a:solidFill>
                  <a:srgbClr val="1E3A8A"/>
                </a:solidFill>
              </a:rPr>
              <a:t>Proceso</a:t>
            </a:r>
            <a:r>
              <a:rPr sz="3200" b="1" dirty="0">
                <a:solidFill>
                  <a:srgbClr val="1E3A8A"/>
                </a:solidFill>
              </a:rPr>
              <a:t> de </a:t>
            </a:r>
            <a:r>
              <a:rPr sz="3200" b="1" dirty="0" err="1">
                <a:solidFill>
                  <a:srgbClr val="1E3A8A"/>
                </a:solidFill>
              </a:rPr>
              <a:t>Compras</a:t>
            </a:r>
            <a:endParaRPr sz="3200" b="1" dirty="0">
              <a:solidFill>
                <a:srgbClr val="1E3A8A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28600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Problemas Detectados</a:t>
            </a:r>
          </a:p>
          <a:p>
            <a:r>
              <a:rPr sz="1500">
                <a:solidFill>
                  <a:srgbClr val="4B5563"/>
                </a:solidFill>
              </a:rPr>
              <a:t>• Planillas dispersas y sistemas no integrados</a:t>
            </a:r>
          </a:p>
          <a:p>
            <a:r>
              <a:rPr sz="1500">
                <a:solidFill>
                  <a:srgbClr val="4B5563"/>
                </a:solidFill>
              </a:rPr>
              <a:t>• Duplicación de proveedores y productos</a:t>
            </a:r>
          </a:p>
          <a:p>
            <a:r>
              <a:rPr sz="1500">
                <a:solidFill>
                  <a:srgbClr val="4B5563"/>
                </a:solidFill>
              </a:rPr>
              <a:t>• Errores manuales frecuentes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200400" cy="228600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Consecuencias</a:t>
            </a:r>
          </a:p>
          <a:p>
            <a:r>
              <a:rPr sz="1500">
                <a:solidFill>
                  <a:srgbClr val="4B5563"/>
                </a:solidFill>
              </a:rPr>
              <a:t>• Falta de trazabilidad</a:t>
            </a:r>
          </a:p>
          <a:p>
            <a:r>
              <a:rPr sz="1500">
                <a:solidFill>
                  <a:srgbClr val="4B5563"/>
                </a:solidFill>
              </a:rPr>
              <a:t>• Dificultad para controlar el gasto</a:t>
            </a:r>
          </a:p>
          <a:p>
            <a:r>
              <a:rPr sz="1500">
                <a:solidFill>
                  <a:srgbClr val="4B5563"/>
                </a:solidFill>
              </a:rPr>
              <a:t>• Riesgo operativo y financiero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97316"/>
                </a:solidFill>
              </a:rPr>
              <a:t>OBJETIVO</a:t>
            </a:r>
          </a:p>
          <a:p>
            <a:r>
              <a:rPr sz="3200" b="1">
                <a:solidFill>
                  <a:srgbClr val="1E3A8A"/>
                </a:solidFill>
              </a:rPr>
              <a:t>Objetivos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Objetivo General</a:t>
            </a:r>
          </a:p>
          <a:p>
            <a:r>
              <a:rPr sz="1500">
                <a:solidFill>
                  <a:srgbClr val="4B5563"/>
                </a:solidFill>
              </a:rPr>
              <a:t>• Centralizar la información de compras</a:t>
            </a:r>
          </a:p>
          <a:p>
            <a:r>
              <a:rPr sz="1500">
                <a:solidFill>
                  <a:srgbClr val="4B5563"/>
                </a:solidFill>
              </a:rPr>
              <a:t>• Garantizar consistencia de datos</a:t>
            </a:r>
          </a:p>
          <a:p>
            <a:r>
              <a:rPr sz="1500">
                <a:solidFill>
                  <a:srgbClr val="4B5563"/>
                </a:solidFill>
              </a:rPr>
              <a:t>• Reducir errores operativos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Objetivos Específicos</a:t>
            </a:r>
          </a:p>
          <a:p>
            <a:r>
              <a:rPr sz="1500">
                <a:solidFill>
                  <a:srgbClr val="4B5563"/>
                </a:solidFill>
              </a:rPr>
              <a:t>• Trazabilidad OC – Recepción – Factura</a:t>
            </a:r>
          </a:p>
          <a:p>
            <a:r>
              <a:rPr sz="1500">
                <a:solidFill>
                  <a:srgbClr val="4B5563"/>
                </a:solidFill>
              </a:rPr>
              <a:t>• Control de inventario</a:t>
            </a:r>
          </a:p>
          <a:p>
            <a:r>
              <a:rPr sz="1500">
                <a:solidFill>
                  <a:srgbClr val="4B5563"/>
                </a:solidFill>
              </a:rPr>
              <a:t>• Base para reporting y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20606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97316"/>
                </a:solidFill>
              </a:rPr>
              <a:t>JUSTIFICACIÓN TÉCNICA</a:t>
            </a:r>
          </a:p>
          <a:p>
            <a:r>
              <a:rPr sz="3200" b="1" dirty="0">
                <a:solidFill>
                  <a:srgbClr val="1E3A8A"/>
                </a:solidFill>
              </a:rPr>
              <a:t>¿Por </a:t>
            </a:r>
            <a:r>
              <a:rPr sz="3200" b="1" dirty="0" err="1">
                <a:solidFill>
                  <a:srgbClr val="1E3A8A"/>
                </a:solidFill>
              </a:rPr>
              <a:t>qué</a:t>
            </a:r>
            <a:r>
              <a:rPr sz="3200" b="1" dirty="0">
                <a:solidFill>
                  <a:srgbClr val="1E3A8A"/>
                </a:solidFill>
              </a:rPr>
              <a:t> </a:t>
            </a:r>
            <a:r>
              <a:rPr sz="3200" b="1" dirty="0" err="1">
                <a:solidFill>
                  <a:srgbClr val="1E3A8A"/>
                </a:solidFill>
              </a:rPr>
              <a:t>una</a:t>
            </a:r>
            <a:r>
              <a:rPr sz="3200" b="1" dirty="0">
                <a:solidFill>
                  <a:srgbClr val="1E3A8A"/>
                </a:solidFill>
              </a:rPr>
              <a:t> Base de Datos </a:t>
            </a:r>
            <a:r>
              <a:rPr sz="3200" b="1" dirty="0" err="1">
                <a:solidFill>
                  <a:srgbClr val="1E3A8A"/>
                </a:solidFill>
              </a:rPr>
              <a:t>Relacional</a:t>
            </a:r>
            <a:r>
              <a:rPr sz="3200" b="1" dirty="0">
                <a:solidFill>
                  <a:srgbClr val="1E3A8A"/>
                </a:solidFill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Limitaciones de Planillas</a:t>
            </a:r>
          </a:p>
          <a:p>
            <a:r>
              <a:rPr sz="1500">
                <a:solidFill>
                  <a:srgbClr val="4B5563"/>
                </a:solidFill>
              </a:rPr>
              <a:t>• No aseguran integridad</a:t>
            </a:r>
          </a:p>
          <a:p>
            <a:r>
              <a:rPr sz="1500">
                <a:solidFill>
                  <a:srgbClr val="4B5563"/>
                </a:solidFill>
              </a:rPr>
              <a:t>• Escalan mal</a:t>
            </a:r>
          </a:p>
          <a:p>
            <a:r>
              <a:rPr sz="1500">
                <a:solidFill>
                  <a:srgbClr val="4B5563"/>
                </a:solidFill>
              </a:rPr>
              <a:t>• Alto riesgo de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Ventajas de la BD</a:t>
            </a:r>
          </a:p>
          <a:p>
            <a:r>
              <a:rPr sz="1500">
                <a:solidFill>
                  <a:srgbClr val="4B5563"/>
                </a:solidFill>
              </a:rPr>
              <a:t>• Claves primarias y foráneas</a:t>
            </a:r>
          </a:p>
          <a:p>
            <a:r>
              <a:rPr sz="1500">
                <a:solidFill>
                  <a:srgbClr val="4B5563"/>
                </a:solidFill>
              </a:rPr>
              <a:t>• Reglas de negocio</a:t>
            </a:r>
          </a:p>
          <a:p>
            <a:r>
              <a:rPr sz="1500">
                <a:solidFill>
                  <a:srgbClr val="4B5563"/>
                </a:solidFill>
              </a:rPr>
              <a:t>• Fuente única de verdad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97316"/>
                </a:solidFill>
              </a:rPr>
              <a:t>MODELO DE DATOS</a:t>
            </a:r>
          </a:p>
          <a:p>
            <a:r>
              <a:rPr sz="3200" b="1">
                <a:solidFill>
                  <a:srgbClr val="1E3A8A"/>
                </a:solidFill>
              </a:rPr>
              <a:t>Estructura Relacional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Diseño Conceptual</a:t>
            </a:r>
          </a:p>
          <a:p>
            <a:r>
              <a:rPr sz="1500">
                <a:solidFill>
                  <a:srgbClr val="4B5563"/>
                </a:solidFill>
              </a:rPr>
              <a:t>• Modelo Entidad–Relación centrado en OC</a:t>
            </a:r>
          </a:p>
          <a:p>
            <a:r>
              <a:rPr sz="1500">
                <a:solidFill>
                  <a:srgbClr val="4B5563"/>
                </a:solidFill>
              </a:rPr>
              <a:t>• Separación clara de entidades</a:t>
            </a:r>
          </a:p>
          <a:p>
            <a:r>
              <a:rPr sz="1500">
                <a:solidFill>
                  <a:srgbClr val="4B5563"/>
                </a:solidFill>
              </a:rPr>
              <a:t>• Relaciones 1–N bien definidas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Normalización (3FN)</a:t>
            </a:r>
          </a:p>
          <a:p>
            <a:r>
              <a:rPr sz="1500">
                <a:solidFill>
                  <a:srgbClr val="4B5563"/>
                </a:solidFill>
              </a:rPr>
              <a:t>• Eliminación de redundancia</a:t>
            </a:r>
          </a:p>
          <a:p>
            <a:r>
              <a:rPr sz="1500">
                <a:solidFill>
                  <a:srgbClr val="4B5563"/>
                </a:solidFill>
              </a:rPr>
              <a:t>• Dependencias funcionales controladas</a:t>
            </a:r>
          </a:p>
          <a:p>
            <a:r>
              <a:rPr sz="1500">
                <a:solidFill>
                  <a:srgbClr val="4B5563"/>
                </a:solidFill>
              </a:rPr>
              <a:t>• Consistencia e integridad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97316"/>
                </a:solidFill>
              </a:rPr>
              <a:t>FUNCIONALIDADES</a:t>
            </a:r>
          </a:p>
          <a:p>
            <a:r>
              <a:rPr sz="3200" b="1">
                <a:solidFill>
                  <a:srgbClr val="1E3A8A"/>
                </a:solidFill>
              </a:rPr>
              <a:t>Qué Permite 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Operación Diaria</a:t>
            </a:r>
          </a:p>
          <a:p>
            <a:r>
              <a:rPr sz="1500">
                <a:solidFill>
                  <a:srgbClr val="4B5563"/>
                </a:solidFill>
              </a:rPr>
              <a:t>• Alta y gestión de proveedores</a:t>
            </a:r>
          </a:p>
          <a:p>
            <a:r>
              <a:rPr sz="1500">
                <a:solidFill>
                  <a:srgbClr val="4B5563"/>
                </a:solidFill>
              </a:rPr>
              <a:t>• Emisión de Órdenes de Compra</a:t>
            </a:r>
          </a:p>
          <a:p>
            <a:r>
              <a:rPr sz="1500">
                <a:solidFill>
                  <a:srgbClr val="4B5563"/>
                </a:solidFill>
              </a:rPr>
              <a:t>• Registro de recepciones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Control y Gestión</a:t>
            </a:r>
          </a:p>
          <a:p>
            <a:r>
              <a:rPr sz="1500">
                <a:solidFill>
                  <a:srgbClr val="4B5563"/>
                </a:solidFill>
              </a:rPr>
              <a:t>• Inventario actualizado</a:t>
            </a:r>
          </a:p>
          <a:p>
            <a:r>
              <a:rPr sz="1500">
                <a:solidFill>
                  <a:srgbClr val="4B5563"/>
                </a:solidFill>
              </a:rPr>
              <a:t>• Conciliación OC–Factura–Recepción</a:t>
            </a:r>
          </a:p>
          <a:p>
            <a:r>
              <a:rPr sz="1500">
                <a:solidFill>
                  <a:srgbClr val="4B5563"/>
                </a:solidFill>
              </a:rPr>
              <a:t>• Auditoría completa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97316"/>
                </a:solidFill>
              </a:rPr>
              <a:t>BENEFICIOS</a:t>
            </a:r>
          </a:p>
          <a:p>
            <a:r>
              <a:rPr sz="3200" b="1" dirty="0">
                <a:solidFill>
                  <a:srgbClr val="1E3A8A"/>
                </a:solidFill>
              </a:rPr>
              <a:t>Impacto Directo </a:t>
            </a:r>
            <a:r>
              <a:rPr sz="3200" b="1" dirty="0" err="1">
                <a:solidFill>
                  <a:srgbClr val="1E3A8A"/>
                </a:solidFill>
              </a:rPr>
              <a:t>en</a:t>
            </a:r>
            <a:r>
              <a:rPr sz="3200" b="1" dirty="0">
                <a:solidFill>
                  <a:srgbClr val="1E3A8A"/>
                </a:solidFill>
              </a:rPr>
              <a:t> </a:t>
            </a:r>
            <a:r>
              <a:rPr sz="3200" b="1" dirty="0" err="1">
                <a:solidFill>
                  <a:srgbClr val="1E3A8A"/>
                </a:solidFill>
              </a:rPr>
              <a:t>Compras</a:t>
            </a:r>
            <a:endParaRPr sz="3200" b="1" dirty="0">
              <a:solidFill>
                <a:srgbClr val="1E3A8A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Beneficios Operativos</a:t>
            </a:r>
          </a:p>
          <a:p>
            <a:r>
              <a:rPr sz="1500">
                <a:solidFill>
                  <a:srgbClr val="4B5563"/>
                </a:solidFill>
              </a:rPr>
              <a:t>• Reducción de errores</a:t>
            </a:r>
          </a:p>
          <a:p>
            <a:r>
              <a:rPr sz="1500">
                <a:solidFill>
                  <a:srgbClr val="4B5563"/>
                </a:solidFill>
              </a:rPr>
              <a:t>• Menor tiempo administrativo</a:t>
            </a:r>
          </a:p>
          <a:p>
            <a:r>
              <a:rPr sz="1500">
                <a:solidFill>
                  <a:srgbClr val="4B5563"/>
                </a:solidFill>
              </a:rPr>
              <a:t>• Visibilidad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200400" cy="256032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3A8A"/>
                </a:solidFill>
              </a:rPr>
              <a:t>Beneficios Estratégicos</a:t>
            </a:r>
          </a:p>
          <a:p>
            <a:r>
              <a:rPr sz="1500">
                <a:solidFill>
                  <a:srgbClr val="4B5563"/>
                </a:solidFill>
              </a:rPr>
              <a:t>• Control del gasto</a:t>
            </a:r>
          </a:p>
          <a:p>
            <a:r>
              <a:rPr sz="1500">
                <a:solidFill>
                  <a:srgbClr val="4B5563"/>
                </a:solidFill>
              </a:rPr>
              <a:t>• Mejor negociación con proveedores</a:t>
            </a:r>
          </a:p>
          <a:p>
            <a:r>
              <a:rPr sz="1500">
                <a:solidFill>
                  <a:srgbClr val="4B5563"/>
                </a:solidFill>
              </a:rPr>
              <a:t>• Soporte a decisiones gerenciales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97316"/>
                </a:solidFill>
              </a:rPr>
              <a:t>CONCLUSIÓN</a:t>
            </a:r>
          </a:p>
          <a:p>
            <a:r>
              <a:rPr sz="3200" b="1">
                <a:solidFill>
                  <a:srgbClr val="1E3A8A"/>
                </a:solidFill>
              </a:rPr>
              <a:t>Valor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6675120" cy="274320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1E3A8A"/>
                </a:solidFill>
              </a:rPr>
              <a:t>Síntesis</a:t>
            </a:r>
            <a:r>
              <a:rPr sz="1800" b="1" dirty="0">
                <a:solidFill>
                  <a:srgbClr val="1E3A8A"/>
                </a:solidFill>
              </a:rPr>
              <a:t> Final</a:t>
            </a:r>
          </a:p>
          <a:p>
            <a:r>
              <a:rPr sz="1500" dirty="0">
                <a:solidFill>
                  <a:srgbClr val="4B5563"/>
                </a:solidFill>
              </a:rPr>
              <a:t>• La base de </a:t>
            </a:r>
            <a:r>
              <a:rPr sz="1500" dirty="0" err="1">
                <a:solidFill>
                  <a:srgbClr val="4B5563"/>
                </a:solidFill>
              </a:rPr>
              <a:t>datos</a:t>
            </a:r>
            <a:r>
              <a:rPr sz="1500" dirty="0">
                <a:solidFill>
                  <a:srgbClr val="4B5563"/>
                </a:solidFill>
              </a:rPr>
              <a:t> </a:t>
            </a:r>
            <a:r>
              <a:rPr sz="1500" dirty="0" err="1">
                <a:solidFill>
                  <a:srgbClr val="4B5563"/>
                </a:solidFill>
              </a:rPr>
              <a:t>transforma</a:t>
            </a:r>
            <a:r>
              <a:rPr sz="1500" dirty="0">
                <a:solidFill>
                  <a:srgbClr val="4B5563"/>
                </a:solidFill>
              </a:rPr>
              <a:t> </a:t>
            </a:r>
            <a:r>
              <a:rPr sz="1500" dirty="0" err="1">
                <a:solidFill>
                  <a:srgbClr val="4B5563"/>
                </a:solidFill>
              </a:rPr>
              <a:t>Compras</a:t>
            </a:r>
            <a:r>
              <a:rPr sz="1500" dirty="0">
                <a:solidFill>
                  <a:srgbClr val="4B5563"/>
                </a:solidFill>
              </a:rPr>
              <a:t> </a:t>
            </a:r>
            <a:r>
              <a:rPr sz="1500" dirty="0" err="1">
                <a:solidFill>
                  <a:srgbClr val="4B5563"/>
                </a:solidFill>
              </a:rPr>
              <a:t>en</a:t>
            </a:r>
            <a:r>
              <a:rPr sz="1500" dirty="0">
                <a:solidFill>
                  <a:srgbClr val="4B5563"/>
                </a:solidFill>
              </a:rPr>
              <a:t> un </a:t>
            </a:r>
            <a:r>
              <a:rPr sz="1500" dirty="0" err="1">
                <a:solidFill>
                  <a:srgbClr val="4B5563"/>
                </a:solidFill>
              </a:rPr>
              <a:t>área</a:t>
            </a:r>
            <a:r>
              <a:rPr sz="1500" dirty="0">
                <a:solidFill>
                  <a:srgbClr val="4B5563"/>
                </a:solidFill>
              </a:rPr>
              <a:t> </a:t>
            </a:r>
            <a:r>
              <a:rPr sz="1500" dirty="0" err="1">
                <a:solidFill>
                  <a:srgbClr val="4B5563"/>
                </a:solidFill>
              </a:rPr>
              <a:t>controlada</a:t>
            </a:r>
            <a:r>
              <a:rPr sz="1500" dirty="0">
                <a:solidFill>
                  <a:srgbClr val="4B5563"/>
                </a:solidFill>
              </a:rPr>
              <a:t> y </a:t>
            </a:r>
            <a:r>
              <a:rPr sz="1500" dirty="0" err="1">
                <a:solidFill>
                  <a:srgbClr val="4B5563"/>
                </a:solidFill>
              </a:rPr>
              <a:t>confiable</a:t>
            </a:r>
            <a:endParaRPr sz="1500" dirty="0">
              <a:solidFill>
                <a:srgbClr val="4B5563"/>
              </a:solidFill>
            </a:endParaRPr>
          </a:p>
          <a:p>
            <a:r>
              <a:rPr sz="1500" dirty="0">
                <a:solidFill>
                  <a:srgbClr val="4B5563"/>
                </a:solidFill>
              </a:rPr>
              <a:t>• Reduce </a:t>
            </a:r>
            <a:r>
              <a:rPr sz="1500" dirty="0" err="1">
                <a:solidFill>
                  <a:srgbClr val="4B5563"/>
                </a:solidFill>
              </a:rPr>
              <a:t>riesgos</a:t>
            </a:r>
            <a:r>
              <a:rPr sz="1500" dirty="0">
                <a:solidFill>
                  <a:srgbClr val="4B5563"/>
                </a:solidFill>
              </a:rPr>
              <a:t> </a:t>
            </a:r>
            <a:r>
              <a:rPr sz="1500" dirty="0" err="1">
                <a:solidFill>
                  <a:srgbClr val="4B5563"/>
                </a:solidFill>
              </a:rPr>
              <a:t>financieros</a:t>
            </a:r>
            <a:r>
              <a:rPr sz="1500" dirty="0">
                <a:solidFill>
                  <a:srgbClr val="4B5563"/>
                </a:solidFill>
              </a:rPr>
              <a:t> y </a:t>
            </a:r>
            <a:r>
              <a:rPr sz="1500" dirty="0" err="1">
                <a:solidFill>
                  <a:srgbClr val="4B5563"/>
                </a:solidFill>
              </a:rPr>
              <a:t>operativos</a:t>
            </a:r>
            <a:endParaRPr sz="1500" dirty="0">
              <a:solidFill>
                <a:srgbClr val="4B5563"/>
              </a:solidFill>
            </a:endParaRPr>
          </a:p>
          <a:p>
            <a:r>
              <a:rPr sz="1500" dirty="0">
                <a:solidFill>
                  <a:srgbClr val="4B5563"/>
                </a:solidFill>
              </a:rPr>
              <a:t>• </a:t>
            </a:r>
            <a:r>
              <a:rPr sz="1500" dirty="0" err="1">
                <a:solidFill>
                  <a:srgbClr val="4B5563"/>
                </a:solidFill>
              </a:rPr>
              <a:t>Sienta</a:t>
            </a:r>
            <a:r>
              <a:rPr sz="1500" dirty="0">
                <a:solidFill>
                  <a:srgbClr val="4B5563"/>
                </a:solidFill>
              </a:rPr>
              <a:t> las bases para BI y </a:t>
            </a:r>
            <a:r>
              <a:rPr sz="1500" dirty="0" err="1">
                <a:solidFill>
                  <a:srgbClr val="4B5563"/>
                </a:solidFill>
              </a:rPr>
              <a:t>escalabilidad</a:t>
            </a:r>
            <a:r>
              <a:rPr sz="1500" dirty="0">
                <a:solidFill>
                  <a:srgbClr val="4B5563"/>
                </a:solidFill>
              </a:rPr>
              <a:t> </a:t>
            </a:r>
            <a:r>
              <a:rPr sz="1500" dirty="0" err="1">
                <a:solidFill>
                  <a:srgbClr val="4B5563"/>
                </a:solidFill>
              </a:rPr>
              <a:t>futura</a:t>
            </a:r>
            <a:endParaRPr sz="1500" dirty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C7BF-1B1F-ED0C-314B-4B460336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2ACD23-2E16-E51A-DD88-E72C8E1B76E2}"/>
              </a:ext>
            </a:extLst>
          </p:cNvPr>
          <p:cNvSpPr/>
          <p:nvPr/>
        </p:nvSpPr>
        <p:spPr>
          <a:xfrm>
            <a:off x="0" y="12700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876851-AB9F-0A7A-BDBF-38D1F7531D62}"/>
              </a:ext>
            </a:extLst>
          </p:cNvPr>
          <p:cNvSpPr/>
          <p:nvPr/>
        </p:nvSpPr>
        <p:spPr>
          <a:xfrm>
            <a:off x="7315200" y="-914400"/>
            <a:ext cx="5486400" cy="822960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2FAA3-F062-16A8-B802-5A2184024809}"/>
              </a:ext>
            </a:extLst>
          </p:cNvPr>
          <p:cNvSpPr txBox="1"/>
          <p:nvPr/>
        </p:nvSpPr>
        <p:spPr>
          <a:xfrm>
            <a:off x="1732486" y="2604519"/>
            <a:ext cx="39473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400" b="1" dirty="0">
                <a:solidFill>
                  <a:srgbClr val="1E3A8A"/>
                </a:solidFill>
              </a:rPr>
              <a:t>Muchas gracias!</a:t>
            </a:r>
            <a:endParaRPr sz="4400" b="1" dirty="0">
              <a:solidFill>
                <a:srgbClr val="1E3A8A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046304-1C5E-967B-516F-B2145FA88444}"/>
              </a:ext>
            </a:extLst>
          </p:cNvPr>
          <p:cNvSpPr txBox="1"/>
          <p:nvPr/>
        </p:nvSpPr>
        <p:spPr>
          <a:xfrm>
            <a:off x="1732486" y="3373960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rgbClr val="4B5563"/>
                </a:solidFill>
              </a:rPr>
              <a:t>El desarrollo teórico completo y al detalle se podrá ver en README</a:t>
            </a:r>
            <a:endParaRPr lang="en-US" sz="2000" b="1" dirty="0">
              <a:solidFill>
                <a:srgbClr val="4B55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77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433</Words>
  <Application>Microsoft Office PowerPoint</Application>
  <PresentationFormat>Personalizado</PresentationFormat>
  <Paragraphs>74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Axel Bojko</dc:creator>
  <cp:keywords/>
  <dc:description>generated using python-pptx</dc:description>
  <cp:lastModifiedBy>Axel Bojko</cp:lastModifiedBy>
  <cp:revision>3</cp:revision>
  <dcterms:created xsi:type="dcterms:W3CDTF">2013-01-27T09:14:16Z</dcterms:created>
  <dcterms:modified xsi:type="dcterms:W3CDTF">2026-02-09T01:19:04Z</dcterms:modified>
  <cp:category/>
</cp:coreProperties>
</file>